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3"/>
  </p:notesMasterIdLst>
  <p:sldIdLst>
    <p:sldId id="257" r:id="rId4"/>
    <p:sldId id="286" r:id="rId5"/>
    <p:sldId id="288" r:id="rId6"/>
    <p:sldId id="287" r:id="rId7"/>
    <p:sldId id="283" r:id="rId8"/>
    <p:sldId id="285" r:id="rId9"/>
    <p:sldId id="284" r:id="rId10"/>
    <p:sldId id="281" r:id="rId11"/>
    <p:sldId id="282" r:id="rId12"/>
    <p:sldId id="279" r:id="rId14"/>
    <p:sldId id="280" r:id="rId15"/>
    <p:sldId id="277" r:id="rId16"/>
    <p:sldId id="278" r:id="rId17"/>
    <p:sldId id="274" r:id="rId18"/>
    <p:sldId id="275" r:id="rId19"/>
    <p:sldId id="276" r:id="rId20"/>
    <p:sldId id="272" r:id="rId21"/>
    <p:sldId id="273" r:id="rId22"/>
    <p:sldId id="270" r:id="rId23"/>
    <p:sldId id="271" r:id="rId24"/>
    <p:sldId id="268" r:id="rId25"/>
    <p:sldId id="269" r:id="rId26"/>
    <p:sldId id="263" r:id="rId27"/>
    <p:sldId id="267" r:id="rId28"/>
    <p:sldId id="266" r:id="rId29"/>
    <p:sldId id="265" r:id="rId30"/>
    <p:sldId id="264" r:id="rId31"/>
    <p:sldId id="260" r:id="rId32"/>
    <p:sldId id="261" r:id="rId33"/>
    <p:sldId id="25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2" autoAdjust="0"/>
    <p:restoredTop sz="94660"/>
  </p:normalViewPr>
  <p:slideViewPr>
    <p:cSldViewPr snapToGrid="0">
      <p:cViewPr varScale="1">
        <p:scale>
          <a:sx n="79" d="100"/>
          <a:sy n="79" d="100"/>
        </p:scale>
        <p:origin x="7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UC-02 – Tool Specification &amp; Documentation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The user uploads tool details and related documents</a:t>
                      </a:r>
                      <a:endParaRPr lang="en-US" altLang="en-GB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Member is logged in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Tool is added to inventory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 Module rejects invalid files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Upload fails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no data saved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Member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Member chooses to add a new tool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Member lists a tool with full specifications</a:t>
                      </a:r>
                      <a:endParaRPr lang="en-US" altLang="en-GB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format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Member re-uploads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Upload interrupted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retry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UC-05 – Multi-Tier Pricing Engine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calculates price based on duration and membership</a:t>
                      </a:r>
                      <a:endParaRPr lang="en-US" altLang="en-GB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Tool selected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Price displayed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Missing pricing data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calculation fails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/>
                          <a:ea typeface="+mn-ea"/>
                          <a:cs typeface="Times New Roman" panose="02020603050405020304"/>
                          <a:sym typeface="+mn-ea"/>
                        </a:rPr>
                        <a:t>Member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/>
                          <a:ea typeface="+mn-ea"/>
                          <a:cs typeface="Times New Roman" panose="02020603050405020304"/>
                          <a:sym typeface="+mn-ea"/>
                        </a:rPr>
                        <a:t>Member selects rental duration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</a:rPr>
                        <a:t>Member selects duration</a:t>
                      </a:r>
                      <a:endParaRPr lang="en-US" altLang="en-GB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</a:rPr>
                        <a:t>Member Module checks pricing</a:t>
                      </a:r>
                      <a:endParaRPr lang="en-US" altLang="en-GB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</a:rPr>
                        <a:t>Member Module applies discounts</a:t>
                      </a:r>
                      <a:endParaRPr lang="en-US" altLang="en-GB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discount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base price applied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UC-07 – Smart Reservation Request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checks for time conflicts before confirming reservation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Tool available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Reservation confirmed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 conflict detected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Member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 requests reservation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</a:rPr>
                        <a:t>Member selects time slot</a:t>
                      </a:r>
                      <a:endParaRPr lang="en-US" altLang="en-GB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</a:rPr>
                        <a:t>Member Module checks availability</a:t>
                      </a:r>
                      <a:endParaRPr lang="en-US" altLang="en-GB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</a:rPr>
                        <a:t>If available </a:t>
                      </a: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</a:rPr>
                        <a:t> confirm reservation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Conflict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Member Module suggests new time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UC-08 – Deposit Management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holds deposit during rental period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Reservation confirmed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Deposit held or released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Payment failure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Member, Librarian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Rental confirmation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 pays deposit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 Module holds deposit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After return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Librarian approves release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 Module releases funds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Damage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Librarian deducts amount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UC-11 – Tool Compatibility Checker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 tool suitability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Tool specifications exist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Compatibility result shown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Missing </a:t>
                      </a:r>
                      <a:r>
                        <a:rPr lang="en-US" altLang="en-GB" sz="2400" dirty="0">
                          <a:sym typeface="+mn-ea"/>
                        </a:rPr>
                        <a:t>specifications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 requests compatibility check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 inputs requirements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 Module compares specs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 Module shows result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tool specifications are incomplete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Member Module notifies the member that compatibility cannot be determined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user input is invalid or missing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Member is prompted to re-enter correct requirements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UC-12 – Damage Declaration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report tool damage immediately with evidence 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Active reservation exists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Damage report stored 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Missing evidence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Damage occurs</a:t>
                      </a:r>
                      <a:r>
                        <a:rPr lang="ar-EG" altLang="en-US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 </a:t>
                      </a:r>
                      <a:r>
                        <a:rPr lang="en-US" altLang="en-US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when using the tool 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 submits report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 uploads images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records damage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Request additional details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UC-15 – Inventory Audit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Verifying physical possession of listed tools via real-time proof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Active Tool Listing, Active Lender Account</a:t>
                      </a:r>
                      <a:endParaRPr lang="en-US" altLang="en-GB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Updated Tool Status (Verified/Flagged)</a:t>
                      </a:r>
                      <a:endParaRPr lang="en-US" altLang="en-GB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Tool not found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Audit initiated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selects tool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inspects tool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updates status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Tool missing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flagged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UC-16 – QR Handover Verification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Digital confirmation of tool exchange via QR scanning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Approved Reservation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Transfer recorded</a:t>
                      </a:r>
                      <a:r>
                        <a:rPr lang="ar-EG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ar-EG" alt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QR mismatch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Member, Librarian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/>
                          <a:ea typeface="+mn-ea"/>
                          <a:cs typeface="Times New Roman" panose="02020603050405020304"/>
                          <a:sym typeface="+mn-ea"/>
                        </a:rPr>
                        <a:t>Initiate QR scanning between Member and Librarian</a:t>
                      </a:r>
                      <a:endParaRPr lang="en-US" altLang="en-US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generates QR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 scans code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verifies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records transfer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QR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retry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UC-17 – Dispute Mediation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Centralized interface for Librarian to review evidence and decide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Active Dispute Ticket, Uploaded Evidence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Final Settlement Verdict, Funds Distributed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Missing evidence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Filing of a Formal Dispute by Member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reviews case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checks evidence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records decision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Request more evidence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UC-18 – Insurance Claim Processing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Automated generation of insurance documentation for claims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Active Insurance Coverage, Confirmed Destruction/Theft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Claim Report Generated 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claim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en-GB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"Total Loss" status reported in Dispute Hub</a:t>
                      </a:r>
                      <a:endParaRPr lang="en-US" altLang="en-GB" sz="2400" dirty="0">
                        <a:latin typeface="Times New Roman" panose="02020603050405020304"/>
                        <a:cs typeface="Times New Roman" panose="02020603050405020304"/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Claim initiated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gathers data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generates report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submits claim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Reject claim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UC-19 – Late Return Escalation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Multi-stage notification and automated fine application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Overdue "Return" Status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Fines Applied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Notification failure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Expiration of Rental Buffer Period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detects delay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sends alerts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applies penalty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escalates case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UC-20 – Suspension Manager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Logic to restrict account functions based on behavior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Documented Violation, User ID exists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Restricted Account Access, Active Listings Removed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Wrong decision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Violation reported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reviews violation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applies suspension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notifies user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Warning instead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UC-21 – Zone Management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Defining administrative and search boundaries for zones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Geospatial Data Enabled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Updated Geographic Search Boundaries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input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New Community Creation or User Move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defines zone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assigns users/tools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saves</a:t>
                      </a:r>
                      <a:r>
                        <a:rPr 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Modify zone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UC-22 – Revenue Reporting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Aggregating fees, insurance cuts, and earnings into reports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Completed Financial Transactions</a:t>
                      </a:r>
                      <a:endParaRPr lang="en-US" altLang="en-GB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Financial Report Generated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Missing data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Month-End or On-Demand Request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selects period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collects data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generates report</a:t>
                      </a:r>
                      <a:r>
                        <a:rPr 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Export report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UC-23 – Promotional Campaign Manager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Managing time-limited discounts for specific tool  categories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Active Tool Categories, Admin Authorization</a:t>
                      </a:r>
                      <a:endParaRPr lang="en-US" altLang="en-GB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Active Promo Code in Database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campaign data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creates campaign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enters campaign details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validates data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activates campaign</a:t>
                      </a:r>
                      <a:r>
                        <a:rPr 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data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Librarian corrects input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UC-24 – Category Mapping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Managing the structural classification of tools for search  accuracy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Access to Catalog Management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Updated Global Category Tree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Duplicate category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Adding New Tool Types or Inventory Expansion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defines category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maps tools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saves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Duplicate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rejected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UC-28 – Activity Dashboard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Visual oversight of active rentals, handovers, and pending returns</a:t>
                      </a:r>
                      <a:endParaRPr lang="en-US" altLang="en-GB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Active rentals exist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Dashboard displayed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 unavailable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Admin Session Login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opens dashboard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collects data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Librarian Module displays dashboard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data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empty dashboard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UC-29 – Maintenance Trigger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The system monitors tool usage and automatically schedules maintenance  </a:t>
                      </a:r>
                      <a:endParaRPr lang="en-US" altLang="en-US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when limits are exceeded</a:t>
                      </a:r>
                      <a:endParaRPr lang="en-US" altLang="en-US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Tool usage tracking is enabled</a:t>
                      </a:r>
                      <a:endParaRPr lang="en-US" altLang="en-US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Maintenance threshold is defined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Tool is flagged for maintenance</a:t>
                      </a:r>
                      <a:endParaRPr lang="en-US" altLang="en-US" sz="2400">
                        <a:latin typeface="Times New Roman" panose="02020603050405020304"/>
                        <a:cs typeface="Times New Roman" panose="02020603050405020304"/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Maintenance task is created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Missing usage data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Tool usage counter reaches the predefined limit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tracks usage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checks threshold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flags tool</a:t>
                      </a:r>
                      <a:r>
                        <a:rPr 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threshold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no action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UC-30 – Safety Logger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The system logs certifications and alerts users before expiration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Certification data entered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Certification status updated </a:t>
                      </a:r>
                      <a:endParaRPr lang="en-US" altLang="en-US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Alerts sent if needed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certificate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New certification added or nearing expiration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staff enters certificate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validates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stores data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Expired cert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flagged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UC-31 – Cost Estimator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Provides cost estimation based on previous repairs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Repair database exists and data was stored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Estimated cost displayed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matching issue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Technician selects a repair issue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staff enters issue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searches DB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estimates cost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match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manual estimate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UC-32 – Consumables Tracker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System tracks consumables and alerts when low</a:t>
                      </a:r>
                      <a:endParaRPr lang="en-US" altLang="en-US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US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Inventory system active</a:t>
                      </a:r>
                      <a:endParaRPr lang="en-US" altLang="en-US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Inventory updated</a:t>
                      </a:r>
                      <a:endParaRPr lang="en-US" altLang="en-US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Alerts generated</a:t>
                      </a:r>
                      <a:endParaRPr lang="en-US" altLang="en-US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Missing data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Item usage or stock update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staff updates stock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records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alerts if low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 stock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notification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UC-33 – Lockout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System blocks future reservations of the tool</a:t>
                      </a:r>
                      <a:endParaRPr lang="en-US" altLang="en-US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Tool inspection completed</a:t>
                      </a:r>
                      <a:endParaRPr lang="en-US" altLang="en-US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US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Reservations canceled</a:t>
                      </a:r>
                      <a:endParaRPr lang="en-US" altLang="en-US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US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Wrong status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Failed maintenance check 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staff flags tool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disables tool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cancels bookings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Repaired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re-enable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UC-34 – External Repair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System tracks repair process externally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Repair request created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 </a:t>
                      </a: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Repair status updated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Vendor unavailable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 </a:t>
                      </a:r>
                      <a:r>
                        <a:rPr lang="en-US" altLang="en-US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Repair requires external service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staff sends tool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tracks status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updates records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Delay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notify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UC-35 – Warranty Alert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Alerts lenders before warranty expires</a:t>
                      </a:r>
                      <a:endParaRPr lang="en-US" altLang="en-US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US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Warranty data stored </a:t>
                      </a:r>
                      <a:endParaRPr lang="en-US" altLang="en-US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 </a:t>
                      </a: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Notification sent to tool`s owner .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  <a:sym typeface="+mn-ea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Missing warranty data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Date close to expiry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checks dates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sends alert</a:t>
                      </a:r>
                      <a:r>
                        <a:rPr 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Already expired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notify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UC-36 – Maintenance History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Shows repair and maintenance history of the tool 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History information of the tool was stored 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display data of the tool 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history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User views tool details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Member selects tool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retrieves data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displays history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data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empty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UC-37 – Knowledge Base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Central repository for troubleshooting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System accessible , and the </a:t>
                      </a: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Technicians share his tips .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Knowledge updated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content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New entry added from the </a:t>
                      </a: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Technicians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Staff writes solution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validates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stores</a:t>
                      </a:r>
                      <a:r>
                        <a:rPr 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Duplicate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rejected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UC-38 – Battery Tracking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Tracks battery performance and health</a:t>
                      </a:r>
                      <a:endParaRPr lang="en-US" altLang="en-US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US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Battery tracking enabled</a:t>
                      </a:r>
                      <a:endParaRPr lang="en-US" altLang="en-US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Health status updated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Missing data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Battery usage update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logs usage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calculates health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updates status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 health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alert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UC-39 – Disposal Workflow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Handles disposal or recycling of tools by </a:t>
                      </a:r>
                      <a:r>
                        <a:rPr lang="en-US" altLang="en-US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librarian .</a:t>
                      </a:r>
                      <a:endParaRPr lang="en-US" altLang="en-US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US" sz="2400" b="0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Tool marked unusable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Tool removed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Wrong classification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Tool declared unusable from the librarian .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staff marks tool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removes tool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updates records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Repaired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cancel disposal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UC-41 – Procurement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Tracks ordering and delivery of the part is required 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select the part which is required </a:t>
                      </a:r>
                      <a:endParaRPr lang="en-US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Part received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Supplier unavailable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Part required for repair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Staff requests part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places order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tracks delivery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Delay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notify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UC-42 – Performance Metrics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Measures repair speed and success rate and send this info. to admin .</a:t>
                      </a:r>
                      <a:endParaRPr lang="en-US" altLang="en-US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Data recorded in database </a:t>
                      </a:r>
                      <a:endParaRPr lang="en-US" altLang="en-US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b="1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the </a:t>
                      </a:r>
                      <a:r>
                        <a:rPr lang="en-US" altLang="en-US" sz="2400" b="1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Performance of the Technician  is be updated</a:t>
                      </a:r>
                      <a:endParaRPr lang="en-US"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Missing data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2400" b="1" dirty="0">
                          <a:latin typeface="Times New Roman" panose="02020603050405020304"/>
                          <a:cs typeface="Times New Roman" panose="02020603050405020304"/>
                          <a:sym typeface="+mn-ea"/>
                        </a:rPr>
                        <a:t>Technician  complete repaire the tool .</a:t>
                      </a:r>
                      <a:endParaRPr lang="en-US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collects data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calculates metrics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Module displays results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Incomplete data </a:t>
                      </a:r>
                      <a:r>
                        <a:rPr lang="en-US" alt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en-GB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partial report</a:t>
                      </a:r>
                      <a:endParaRPr lang="en-US" altLang="en-GB" sz="2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17071</Words>
  <Application>WPS Presentation</Application>
  <PresentationFormat>Widescreen</PresentationFormat>
  <Paragraphs>1168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4" baseType="lpstr">
      <vt:lpstr>Arial</vt:lpstr>
      <vt:lpstr>SimSun</vt:lpstr>
      <vt:lpstr>Wingdings</vt:lpstr>
      <vt:lpstr>Aptos</vt:lpstr>
      <vt:lpstr>Segoe UI</vt:lpstr>
      <vt:lpstr>Microsoft YaHei</vt:lpstr>
      <vt:lpstr>Arial Unicode MS</vt:lpstr>
      <vt:lpstr>Aptos Display</vt:lpstr>
      <vt:lpstr>Segoe UI Variable Display</vt:lpstr>
      <vt:lpstr>Calibri</vt:lpstr>
      <vt:lpstr>Times New Roman</vt:lpstr>
      <vt:lpstr>Aldhabi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Ismail Shehata</dc:creator>
  <cp:lastModifiedBy>Yassen</cp:lastModifiedBy>
  <cp:revision>7</cp:revision>
  <dcterms:created xsi:type="dcterms:W3CDTF">2026-04-05T05:37:00Z</dcterms:created>
  <dcterms:modified xsi:type="dcterms:W3CDTF">2026-04-10T19:03:17Z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E2269C73EFF343FEBC4E2079D73A059C_13</vt:lpwstr>
  </property>
  <property fmtid="{D5CDD505-2E9C-101B-9397-08002B2CF9AE}" pid="3" name="KSOProductBuildVer">
    <vt:lpwstr>2057-12.2.0.23201</vt:lpwstr>
  </property>
</Properties>
</file>